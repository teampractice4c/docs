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61" r:id="rId4"/>
    <p:sldId id="259" r:id="rId5"/>
    <p:sldId id="262" r:id="rId6"/>
    <p:sldId id="263" r:id="rId7"/>
    <p:sldId id="264" r:id="rId8"/>
    <p:sldId id="265" r:id="rId9"/>
    <p:sldId id="267" r:id="rId10"/>
    <p:sldId id="279" r:id="rId11"/>
    <p:sldId id="268" r:id="rId12"/>
    <p:sldId id="269" r:id="rId13"/>
    <p:sldId id="271" r:id="rId14"/>
    <p:sldId id="272" r:id="rId15"/>
    <p:sldId id="273" r:id="rId16"/>
    <p:sldId id="274" r:id="rId17"/>
    <p:sldId id="275" r:id="rId18"/>
    <p:sldId id="276" r:id="rId19"/>
    <p:sldId id="270" r:id="rId20"/>
    <p:sldId id="278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7916F7-592F-47DF-A941-1FC8622D00BF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F3C46A-4C88-495D-B4FD-DB4F0C7FA9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622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876A0-AFA7-CBA8-3269-6E0A0D843F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33E561-DB80-E362-0F45-7F0CC8F14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F1CC47-D568-D08A-78E2-4A8BA54C7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1051B1-2824-404B-B116-DCC444BD6764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3D9062-7ACC-7B75-AD5C-A60C57420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4AECCD-C90C-9B2C-E2AF-F2B3BFA58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7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85FED7-FBC9-1D4F-D60D-653873B90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3BB27D-96F7-AF01-380E-8A156DA93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64673-1E45-97DC-565D-2C1E8542D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1F5E0F-83F2-4593-809F-F66D62E5CFC8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3A20DA-8218-C492-EAE0-59123BBCD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95EF10-F200-F448-9289-245518F02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65462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E13E4-846B-F486-01DE-58A5BEED6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847A3-AC4F-F08C-AED8-A60EF5EE1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82C4DC-D51F-895F-B30A-65E384CE6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515002-7FE2-4169-A78B-27901AAB0483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1C69D2-F1F6-1F43-3499-CEEF054068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727D80-201F-F241-6DB8-4ADBF83051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2611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A240A-E88D-E9DF-3EBF-D899C19775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85CF4F-FED7-099B-EB84-AB77B6072E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173D2-6DDE-B749-2D09-6E3FACA00F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A39AC-AECA-543D-FF35-FD12EDD8F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3F6550-13C6-4AD4-A131-E6D4BAEF1E31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123EE0-9222-8D79-9198-9033ED9E9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9E2A38-F997-B54D-5385-77E42F4A3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9511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2C720-B35C-3894-CA83-3B3FEEB43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71258-5EE5-2B07-7E7F-04C89BF820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89384C2-9A28-20EB-BD9F-C42C425490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B45529-7810-947E-7937-918D4C35BC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10FEF36-27F8-8B98-833E-47BB48D475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18A3BD-5CD0-E3A3-EA1A-50AFD6BE0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1CED3-EE00-43AB-A4E5-FF7360B6A1D1}" type="datetime1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C872E4A-EE22-5BC0-5612-F15AAD9E5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3E61F5-B294-C7E1-C46A-647821061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65146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FDA4F-28E5-7161-BD37-AAB44C79E1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68956B-0EFC-8577-DAA5-A35AF85713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CB4F70-13F3-4938-8831-10FBC5B0381D}" type="datetime1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BBD3C8-B0E3-FC5D-9DF2-C3D7A051F4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713D43-DDED-C57A-2A51-9D68907442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8707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0DC020-8773-8646-54BE-34265449B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06171F-60D3-44FC-B0DD-D0E36F78FE86}" type="datetime1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FB510F-901C-53DB-4ED4-43438E053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AC4D75-6917-FABB-C3D5-F3BBD6576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496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EDBE4-4F70-B802-9594-8B34DB7A2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3A0FB1-D31C-CD53-D77D-53433C9C16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69A569-FA2D-0CCC-19AB-72C47D9A05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59292B-72D9-BCEB-31FB-51B6F5B4ED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4C44A5-BFC4-4506-B318-4B8AD6E77DC1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52C8FE-9E3F-0B27-1A05-166B8FBF7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7AF530-84BB-86A7-3A6C-4892F4963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0203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FF527-CD25-FD55-3873-2A722F5DE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F183A1E-15BA-B53E-BDD3-79C4D37A5CC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82A988-50E0-D639-51DD-79AA14ACC0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ECD63FA-C4F2-1C8C-E450-B89992C3B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95901D-1086-45B6-B2C2-37BD68C42C6C}" type="datetime1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F576F0-CE3D-5AC9-F84F-4E1916ACAD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1715E-2D3E-9EBE-4B9C-3FE43A070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26387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C29F2-B6E6-C308-1503-D279B8BF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FEECA5-21E7-BA59-1F98-309BC9CF5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9E646-C1B8-EA0F-4793-7D279D857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AF925E-F659-4396-9A5B-DDAAD8F0EE66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7F494F-443E-EB28-C8EB-CD5DADFFA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174956-D80E-D049-0949-51B7A64A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63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FEAFE7-E37F-D9BC-51FF-0DB38F0C3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62F0D-F4F8-4F3B-1C8A-A7653000F6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72DA7-EA8F-8661-B914-FDCB47C91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3103C0-5F19-4BB4-9E64-FE38C1A053DA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8029D-A95F-DFE7-FA1B-EB7FEDE3E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92D71D-9DCB-97FA-CDB4-1ED290F91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21473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9D42CBE-881E-F761-178D-68E79E6E3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28C80C-FF77-B2FF-CA1D-BAC6F2A7C3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133839-C8FC-C8E1-16BD-F4C0FD5F52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8164B2-A4BF-4905-8B54-D91E4B3494EB}" type="datetime1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6BB2F-C5F5-5043-7BD7-92EC552A24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7E7C56-93D0-C887-1B7F-8AAF0375BA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BC1EDC-0655-44DB-BB68-843440415E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3204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BA0DD-F6BC-20C8-2051-EBDB6D13B0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SkyWhySales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758AD3D-8A2F-EF87-1144-1808BDB38F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ru-RU" dirty="0"/>
              <a:t>Информационная система для автоматизации оформления авиабилетов</a:t>
            </a:r>
            <a:endParaRPr lang="en-US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7F785B02-65F0-940B-7999-A3A537D6BC70}"/>
              </a:ext>
            </a:extLst>
          </p:cNvPr>
          <p:cNvSpPr txBox="1">
            <a:spLocks/>
          </p:cNvSpPr>
          <p:nvPr/>
        </p:nvSpPr>
        <p:spPr>
          <a:xfrm>
            <a:off x="7555831" y="6112042"/>
            <a:ext cx="4636167" cy="745958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/>
              <a:t>Подготовили: Захаренко Артём, Файзуллин Айдар 22П2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3686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622BD8-747C-B20A-6A04-7625395C35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Проектирование – </a:t>
            </a:r>
            <a:r>
              <a:rPr lang="en-US" dirty="0"/>
              <a:t>Use Case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2A79E65-0E7C-EDA9-DDE8-7CEF8CFD2CE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59" t="5287" r="209" b="15244"/>
          <a:stretch>
            <a:fillRect/>
          </a:stretch>
        </p:blipFill>
        <p:spPr>
          <a:xfrm>
            <a:off x="1234302" y="1325563"/>
            <a:ext cx="9723395" cy="553243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6D369-1C56-F439-632E-B9AC2FD7A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8442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16E526-8088-F385-0F6C-C6A5457B2B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5E128-3867-5D75-8250-C17191854E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Проектирование – Роли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B9E137-568B-5C27-F616-F90E536FA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3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2B60A-8EC6-E98F-18E2-99B3A86AAA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Клиент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Менеджер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52414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504BF-61C3-7199-1407-03310AD9F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8A26E-0767-B481-C617-1CE975F555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Входная информация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 рейсах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 пользователях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 билетах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об авиакомпаниях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информация об аэропортах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Выходная информация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уведомление о регистрации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уведомление о смене пароля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ru-RU" dirty="0"/>
              <a:t>электронный билет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D0038-D2F4-CFF1-198D-E48E4B9B6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0440629-22C0-0B5E-1274-845B87F21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Проектирование – </a:t>
            </a:r>
            <a:r>
              <a:rPr lang="en-US" dirty="0"/>
              <a:t>Use Case</a:t>
            </a:r>
          </a:p>
        </p:txBody>
      </p:sp>
    </p:spTree>
    <p:extLst>
      <p:ext uri="{BB962C8B-B14F-4D97-AF65-F5344CB8AC3E}">
        <p14:creationId xmlns:p14="http://schemas.microsoft.com/office/powerpoint/2010/main" val="237907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BDF9A1-6C67-2C1B-3F24-B0CC22AACE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5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803B8F-4BB6-4751-C18F-F10A01B3244C}"/>
              </a:ext>
            </a:extLst>
          </p:cNvPr>
          <p:cNvSpPr txBox="1"/>
          <p:nvPr/>
        </p:nvSpPr>
        <p:spPr>
          <a:xfrm>
            <a:off x="3829979" y="5987018"/>
            <a:ext cx="453204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Шаблон билета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735D867-4FBE-54E2-EB47-B704F6930D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699" y="300593"/>
            <a:ext cx="7086600" cy="5686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38223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088BAA-8995-A650-1E95-C1003DF1F3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9BA8C-51F9-9EEE-507F-6C8538EF53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" y="1325564"/>
            <a:ext cx="3317966" cy="553243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СУБД – </a:t>
            </a:r>
            <a:r>
              <a:rPr lang="en-US" dirty="0"/>
              <a:t>PostgreSQL.</a:t>
            </a:r>
          </a:p>
          <a:p>
            <a:pPr marL="0" indent="0">
              <a:buNone/>
            </a:pPr>
            <a:r>
              <a:rPr lang="ru-RU" dirty="0"/>
              <a:t>Таблицы:</a:t>
            </a:r>
          </a:p>
          <a:p>
            <a:pPr marL="0" indent="0">
              <a:buNone/>
            </a:pPr>
            <a:r>
              <a:rPr lang="en-US" dirty="0"/>
              <a:t>users</a:t>
            </a:r>
          </a:p>
          <a:p>
            <a:pPr marL="0" indent="0">
              <a:buNone/>
            </a:pPr>
            <a:r>
              <a:rPr lang="en-US" dirty="0"/>
              <a:t>airlines</a:t>
            </a:r>
          </a:p>
          <a:p>
            <a:pPr marL="0" indent="0">
              <a:buNone/>
            </a:pPr>
            <a:r>
              <a:rPr lang="en-US" dirty="0"/>
              <a:t>airports</a:t>
            </a:r>
          </a:p>
          <a:p>
            <a:pPr marL="0" indent="0">
              <a:buNone/>
            </a:pPr>
            <a:r>
              <a:rPr lang="en-US" dirty="0"/>
              <a:t>flights</a:t>
            </a:r>
          </a:p>
          <a:p>
            <a:pPr marL="0" indent="0">
              <a:buNone/>
            </a:pPr>
            <a:r>
              <a:rPr lang="en-US" dirty="0"/>
              <a:t>tickets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B807F-FB6C-C4D1-5901-756D4AF4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3B12727-374C-0CA9-DCFD-75CCD1D1B5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Структура Базы Данных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0D4055-808D-A9F9-0EB5-D40C21C68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033" y="1085850"/>
            <a:ext cx="6048375" cy="5772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8325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E5731-54A7-AEC3-2936-21875E85CC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FFBE73-684D-579A-C596-3B3D27238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1C37A93-780C-9D83-16FA-9A6DB93FFA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Диаграмма классов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0BD89E-BE32-7E35-1DF3-E9F5852D1E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226"/>
          <a:stretch>
            <a:fillRect/>
          </a:stretch>
        </p:blipFill>
        <p:spPr>
          <a:xfrm>
            <a:off x="2999137" y="1325563"/>
            <a:ext cx="6193725" cy="5030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6739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BB8ED6-0CEE-72D7-0A28-66DF0B041B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7E2107-D8D0-FACD-3813-0E58B80CA5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658987B-5228-9C7C-294A-716694CC61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Диаграмма развертывания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13F79E-105B-B4A9-9E51-4022B21FEA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260" y="1325563"/>
            <a:ext cx="7399479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33792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2A7DD-007D-97D4-DE14-FB46931542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E37B94-9640-0986-A24A-F75EAF6E8A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25563"/>
            <a:ext cx="10515600" cy="4351338"/>
          </a:xfrm>
        </p:spPr>
        <p:txBody>
          <a:bodyPr/>
          <a:lstStyle/>
          <a:p>
            <a:pPr>
              <a:buFont typeface="Wingdings" panose="05000000000000000000" pitchFamily="2" charset="2"/>
              <a:buChar char="§"/>
            </a:pPr>
            <a:r>
              <a:rPr lang="en-US" dirty="0"/>
              <a:t>API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ASP.NET – C#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Entity Framework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ru-RU" dirty="0"/>
              <a:t>Веб -приложение </a:t>
            </a:r>
            <a:endParaRPr lang="en-US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JavaScript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en-US" dirty="0"/>
              <a:t>Vue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0E2145-AB87-8930-B188-59AA1021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5FD773F-CEC7-4ADA-D054-6C4488F86F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Схема ПО</a:t>
            </a:r>
            <a:endParaRPr lang="en-US" dirty="0"/>
          </a:p>
        </p:txBody>
      </p:sp>
      <p:pic>
        <p:nvPicPr>
          <p:cNvPr id="2" name="Picture 1" descr="File:Logo C sharp.svg">
            <a:extLst>
              <a:ext uri="{FF2B5EF4-FFF2-40B4-BE49-F238E27FC236}">
                <a16:creationId xmlns:a16="http://schemas.microsoft.com/office/drawing/2014/main" id="{9C298A77-EB7D-21DD-267B-A60C346D5D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08023" y="646114"/>
            <a:ext cx="2438400" cy="2743200"/>
          </a:xfrm>
          <a:prstGeom prst="rect">
            <a:avLst/>
          </a:prstGeom>
        </p:spPr>
      </p:pic>
      <p:pic>
        <p:nvPicPr>
          <p:cNvPr id="5" name="Picture 4" descr="File:Vue.js Logo 2.svg">
            <a:extLst>
              <a:ext uri="{FF2B5EF4-FFF2-40B4-BE49-F238E27FC236}">
                <a16:creationId xmlns:a16="http://schemas.microsoft.com/office/drawing/2014/main" id="{BBA3F6E9-C66C-2EB9-F232-57FF55D35A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083" y="2479765"/>
            <a:ext cx="2784391" cy="24145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55EA3C6-7F7E-BCA1-9CCB-C1D19E139411}"/>
              </a:ext>
            </a:extLst>
          </p:cNvPr>
          <p:cNvSpPr/>
          <p:nvPr/>
        </p:nvSpPr>
        <p:spPr>
          <a:xfrm>
            <a:off x="838200" y="5503274"/>
            <a:ext cx="1504406" cy="853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FFBD073-9593-E475-BD09-A8D4C8D97330}"/>
              </a:ext>
            </a:extLst>
          </p:cNvPr>
          <p:cNvSpPr/>
          <p:nvPr/>
        </p:nvSpPr>
        <p:spPr>
          <a:xfrm>
            <a:off x="3219994" y="5503274"/>
            <a:ext cx="1504406" cy="853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D837E52-FB33-FD1B-8631-9BA49ECA2897}"/>
              </a:ext>
            </a:extLst>
          </p:cNvPr>
          <p:cNvSpPr/>
          <p:nvPr/>
        </p:nvSpPr>
        <p:spPr>
          <a:xfrm>
            <a:off x="5601788" y="5503274"/>
            <a:ext cx="1504406" cy="853076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8815028-A433-D38A-4617-AE4E7B4F1195}"/>
              </a:ext>
            </a:extLst>
          </p:cNvPr>
          <p:cNvCxnSpPr>
            <a:stCxn id="10" idx="1"/>
            <a:endCxn id="9" idx="3"/>
          </p:cNvCxnSpPr>
          <p:nvPr/>
        </p:nvCxnSpPr>
        <p:spPr>
          <a:xfrm flipH="1">
            <a:off x="2342606" y="5929812"/>
            <a:ext cx="877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709B9A6E-8293-9DF2-2B65-6A51F1D02431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2342606" y="5929812"/>
            <a:ext cx="877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0AFC7BF-034D-855D-EB98-05A7F9E2A6E9}"/>
              </a:ext>
            </a:extLst>
          </p:cNvPr>
          <p:cNvSpPr txBox="1"/>
          <p:nvPr/>
        </p:nvSpPr>
        <p:spPr>
          <a:xfrm>
            <a:off x="2342606" y="5560480"/>
            <a:ext cx="87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TCP/IP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B7B1844-BE25-4894-1CB0-B1DF4A8A962A}"/>
              </a:ext>
            </a:extLst>
          </p:cNvPr>
          <p:cNvCxnSpPr/>
          <p:nvPr/>
        </p:nvCxnSpPr>
        <p:spPr>
          <a:xfrm flipH="1">
            <a:off x="4724400" y="5929812"/>
            <a:ext cx="877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24A43624-2D87-CF58-7851-B316B95F95A5}"/>
              </a:ext>
            </a:extLst>
          </p:cNvPr>
          <p:cNvCxnSpPr>
            <a:cxnSpLocks/>
          </p:cNvCxnSpPr>
          <p:nvPr/>
        </p:nvCxnSpPr>
        <p:spPr>
          <a:xfrm>
            <a:off x="4724400" y="5929812"/>
            <a:ext cx="877388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1237169B-AA62-40A8-9CCC-AE997BD3C909}"/>
              </a:ext>
            </a:extLst>
          </p:cNvPr>
          <p:cNvSpPr txBox="1"/>
          <p:nvPr/>
        </p:nvSpPr>
        <p:spPr>
          <a:xfrm>
            <a:off x="4724400" y="5560480"/>
            <a:ext cx="87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HTTP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6ADE165-EFA2-4C31-BB4C-93AA0B19E89D}"/>
              </a:ext>
            </a:extLst>
          </p:cNvPr>
          <p:cNvSpPr txBox="1">
            <a:spLocks/>
          </p:cNvSpPr>
          <p:nvPr/>
        </p:nvSpPr>
        <p:spPr>
          <a:xfrm>
            <a:off x="836023" y="5730088"/>
            <a:ext cx="150876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PostgreSQL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346ADAE-01A5-25CD-F18A-FF90AD5A80F2}"/>
              </a:ext>
            </a:extLst>
          </p:cNvPr>
          <p:cNvSpPr txBox="1">
            <a:spLocks/>
          </p:cNvSpPr>
          <p:nvPr/>
        </p:nvSpPr>
        <p:spPr>
          <a:xfrm>
            <a:off x="3213463" y="5591589"/>
            <a:ext cx="150876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API</a:t>
            </a:r>
          </a:p>
          <a:p>
            <a:pPr algn="ctr"/>
            <a:r>
              <a:rPr lang="en-US" dirty="0"/>
              <a:t>ASP.NET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6D690D1-BCC1-D96A-3AEC-C7C086004C94}"/>
              </a:ext>
            </a:extLst>
          </p:cNvPr>
          <p:cNvSpPr txBox="1">
            <a:spLocks/>
          </p:cNvSpPr>
          <p:nvPr/>
        </p:nvSpPr>
        <p:spPr>
          <a:xfrm>
            <a:off x="5603965" y="5591589"/>
            <a:ext cx="150876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/>
              <a:t>Web</a:t>
            </a:r>
          </a:p>
          <a:p>
            <a:pPr algn="ctr"/>
            <a:r>
              <a:rPr lang="en-US" dirty="0" err="1"/>
              <a:t>VueJS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62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DEFBA-8902-9593-118C-5694DAE51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9EA50A-7469-9F9A-7E18-D8F82E480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10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32D66EF-42EA-262F-64D2-DD5FB9E9D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Чек-лист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4B1BA72-39A3-91C2-1587-B4CF251C094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836" t="10218" r="1231"/>
          <a:stretch>
            <a:fillRect/>
          </a:stretch>
        </p:blipFill>
        <p:spPr>
          <a:xfrm>
            <a:off x="838200" y="1251052"/>
            <a:ext cx="6010968" cy="435589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A2CB22B-1D8F-143B-0295-AFC79613D602}"/>
              </a:ext>
            </a:extLst>
          </p:cNvPr>
          <p:cNvSpPr txBox="1"/>
          <p:nvPr/>
        </p:nvSpPr>
        <p:spPr>
          <a:xfrm>
            <a:off x="2828951" y="5606947"/>
            <a:ext cx="20294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Чек-лист </a:t>
            </a:r>
            <a:r>
              <a:rPr lang="en-US" dirty="0"/>
              <a:t>Usability</a:t>
            </a:r>
          </a:p>
        </p:txBody>
      </p:sp>
    </p:spTree>
    <p:extLst>
      <p:ext uri="{BB962C8B-B14F-4D97-AF65-F5344CB8AC3E}">
        <p14:creationId xmlns:p14="http://schemas.microsoft.com/office/powerpoint/2010/main" val="34566442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F0AC96-83AA-E86F-785B-9C667069AF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13C1D-5DFF-E0E8-F431-F5C9A1EDD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11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6188461-4F0D-EFEC-2D55-A2EE24C2F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API – </a:t>
            </a:r>
            <a:r>
              <a:rPr lang="ru-RU" dirty="0"/>
              <a:t>Методы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189E53-5233-2685-67C0-281BED25E6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55054"/>
          <a:stretch>
            <a:fillRect/>
          </a:stretch>
        </p:blipFill>
        <p:spPr>
          <a:xfrm>
            <a:off x="838200" y="1042986"/>
            <a:ext cx="3942917" cy="538162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743D3F79-6703-DB85-8E64-2449DDC92C88}"/>
              </a:ext>
            </a:extLst>
          </p:cNvPr>
          <p:cNvSpPr txBox="1"/>
          <p:nvPr/>
        </p:nvSpPr>
        <p:spPr>
          <a:xfrm>
            <a:off x="4781118" y="1303848"/>
            <a:ext cx="1684338" cy="512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200/404/400</a:t>
            </a:r>
          </a:p>
          <a:p>
            <a:pPr>
              <a:lnSpc>
                <a:spcPts val="3300"/>
              </a:lnSpc>
            </a:pPr>
            <a:endParaRPr lang="en-US" sz="1600" dirty="0"/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518C51A-F794-2382-7B8A-08C4464E967A}"/>
              </a:ext>
            </a:extLst>
          </p:cNvPr>
          <p:cNvSpPr txBox="1"/>
          <p:nvPr/>
        </p:nvSpPr>
        <p:spPr>
          <a:xfrm>
            <a:off x="6465456" y="1325563"/>
            <a:ext cx="266931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/>
              <a:t>Основные коды ответа: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ru-RU" dirty="0"/>
              <a:t>200 </a:t>
            </a:r>
            <a:r>
              <a:rPr lang="en-US" dirty="0"/>
              <a:t>OK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400 Bad Request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/>
              <a:t>404 Not Found</a:t>
            </a:r>
          </a:p>
        </p:txBody>
      </p:sp>
    </p:spTree>
    <p:extLst>
      <p:ext uri="{BB962C8B-B14F-4D97-AF65-F5344CB8AC3E}">
        <p14:creationId xmlns:p14="http://schemas.microsoft.com/office/powerpoint/2010/main" val="4074065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E5B52B-1B68-9E3F-0470-D59E21F49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2B51DC-E76E-09F6-6161-A71EC61B36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12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06DCAC00-E302-6EC4-9205-3B752B2B96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API – </a:t>
            </a:r>
            <a:r>
              <a:rPr lang="ru-RU" dirty="0"/>
              <a:t>Методы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D0AFDAF-0F1A-8864-6AD2-CF27DB59BF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65087"/>
          <a:stretch>
            <a:fillRect/>
          </a:stretch>
        </p:blipFill>
        <p:spPr>
          <a:xfrm>
            <a:off x="838200" y="1042985"/>
            <a:ext cx="3042805" cy="538162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CF424B0-FC8A-5529-D27B-36B4FC48C6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65427"/>
          <a:stretch>
            <a:fillRect/>
          </a:stretch>
        </p:blipFill>
        <p:spPr>
          <a:xfrm>
            <a:off x="5567795" y="1042985"/>
            <a:ext cx="3042805" cy="37338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0C958C-272D-419A-1003-BD23CC332EC7}"/>
              </a:ext>
            </a:extLst>
          </p:cNvPr>
          <p:cNvSpPr txBox="1"/>
          <p:nvPr/>
        </p:nvSpPr>
        <p:spPr>
          <a:xfrm>
            <a:off x="3883457" y="1237587"/>
            <a:ext cx="1684338" cy="512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endParaRPr lang="en-US" sz="1600" dirty="0"/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8360AFF-5A79-BAF7-22C5-07315B59FC73}"/>
              </a:ext>
            </a:extLst>
          </p:cNvPr>
          <p:cNvSpPr txBox="1"/>
          <p:nvPr/>
        </p:nvSpPr>
        <p:spPr>
          <a:xfrm>
            <a:off x="8610600" y="1246150"/>
            <a:ext cx="1684338" cy="34289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200/404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  <a:p>
            <a:pPr>
              <a:lnSpc>
                <a:spcPts val="3300"/>
              </a:lnSpc>
            </a:pPr>
            <a:r>
              <a:rPr lang="en-US" sz="1600" dirty="0"/>
              <a:t>200/400</a:t>
            </a:r>
          </a:p>
        </p:txBody>
      </p:sp>
    </p:spTree>
    <p:extLst>
      <p:ext uri="{BB962C8B-B14F-4D97-AF65-F5344CB8AC3E}">
        <p14:creationId xmlns:p14="http://schemas.microsoft.com/office/powerpoint/2010/main" val="263603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6036C0-7D1F-075C-EA3A-1D74AFD554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4E60AE-DA44-4A74-F968-5C6FCCFBF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13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65FEEE0-8F4F-B25A-EFD2-BCB1E86D61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pic>
        <p:nvPicPr>
          <p:cNvPr id="1025" name="Picture 1">
            <a:extLst>
              <a:ext uri="{FF2B5EF4-FFF2-40B4-BE49-F238E27FC236}">
                <a16:creationId xmlns:a16="http://schemas.microsoft.com/office/drawing/2014/main" id="{DE2A02E4-E810-7DA4-0431-29C4451577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6"/>
          <a:stretch>
            <a:fillRect/>
          </a:stretch>
        </p:blipFill>
        <p:spPr bwMode="auto">
          <a:xfrm>
            <a:off x="543972" y="1221373"/>
            <a:ext cx="6634322" cy="3784735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7731F6C-3C72-9ECF-F412-3294DAB7B184}"/>
              </a:ext>
            </a:extLst>
          </p:cNvPr>
          <p:cNvSpPr txBox="1"/>
          <p:nvPr/>
        </p:nvSpPr>
        <p:spPr>
          <a:xfrm>
            <a:off x="1492554" y="5089237"/>
            <a:ext cx="5401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Главная страница – Доступна всем пользователям</a:t>
            </a: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EC03315-1A27-F79F-A947-A187DC25F5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052" r="28265" b="29255"/>
          <a:stretch>
            <a:fillRect/>
          </a:stretch>
        </p:blipFill>
        <p:spPr bwMode="auto">
          <a:xfrm>
            <a:off x="7472522" y="1221373"/>
            <a:ext cx="4175506" cy="3295209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493E6ED-B9B1-AF2D-48F8-F5F7791FF91B}"/>
              </a:ext>
            </a:extLst>
          </p:cNvPr>
          <p:cNvSpPr txBox="1"/>
          <p:nvPr/>
        </p:nvSpPr>
        <p:spPr>
          <a:xfrm>
            <a:off x="7472522" y="4516582"/>
            <a:ext cx="4175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Модальное окно для входа</a:t>
            </a:r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903C67F-0252-6A54-8283-A189A2A26A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02962" y="4980708"/>
            <a:ext cx="2714625" cy="7239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BDA6E373-8339-6C68-A031-6494B334312C}"/>
              </a:ext>
            </a:extLst>
          </p:cNvPr>
          <p:cNvSpPr txBox="1"/>
          <p:nvPr/>
        </p:nvSpPr>
        <p:spPr>
          <a:xfrm>
            <a:off x="7472522" y="5802352"/>
            <a:ext cx="41755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неверных данных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19587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D708E2-AEBA-540A-44D6-8B18BB948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CB104D-05D0-47B5-AB0D-9F8EFBCD1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1C8A18F-E325-D589-0119-132AF8AE71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03379D7-EE4F-2E54-2C17-4CA20C72964C}"/>
              </a:ext>
            </a:extLst>
          </p:cNvPr>
          <p:cNvSpPr txBox="1"/>
          <p:nvPr/>
        </p:nvSpPr>
        <p:spPr>
          <a:xfrm>
            <a:off x="1265060" y="5089237"/>
            <a:ext cx="2169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Страница профиля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C464DF1-2D7E-350A-0940-D857609009B7}"/>
              </a:ext>
            </a:extLst>
          </p:cNvPr>
          <p:cNvSpPr txBox="1"/>
          <p:nvPr/>
        </p:nvSpPr>
        <p:spPr>
          <a:xfrm>
            <a:off x="4449618" y="5089237"/>
            <a:ext cx="37328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Страница редактирования профиля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C3C93D-E43E-293E-6F10-965D79D2317A}"/>
              </a:ext>
            </a:extLst>
          </p:cNvPr>
          <p:cNvSpPr txBox="1"/>
          <p:nvPr/>
        </p:nvSpPr>
        <p:spPr>
          <a:xfrm>
            <a:off x="8314754" y="2510711"/>
            <a:ext cx="3306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неверных данных</a:t>
            </a:r>
            <a:endParaRPr lang="en-US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517D375-EC32-5786-1C99-7265CFA9EAE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1153" t="10704" r="31620" b="11378"/>
          <a:stretch>
            <a:fillRect/>
          </a:stretch>
        </p:blipFill>
        <p:spPr>
          <a:xfrm>
            <a:off x="543943" y="1221373"/>
            <a:ext cx="3611418" cy="376715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3351F42-232D-EDEF-223D-B06C3AD945A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1575" t="9668" r="32196" b="16983"/>
          <a:stretch>
            <a:fillRect/>
          </a:stretch>
        </p:blipFill>
        <p:spPr bwMode="auto">
          <a:xfrm>
            <a:off x="4449618" y="1221373"/>
            <a:ext cx="3732828" cy="3767150"/>
          </a:xfrm>
          <a:prstGeom prst="rect">
            <a:avLst/>
          </a:prstGeom>
          <a:ln>
            <a:solidFill>
              <a:schemeClr val="tx1"/>
            </a:solidFill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2788466-2099-2347-9938-4818F3129F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10600" y="1864379"/>
            <a:ext cx="2743199" cy="6463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8708384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6AD643-F622-9C94-31D4-967F24A5E3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8C9D14-5FFC-166C-6470-65F42853BE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15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F88B11-A2B7-A187-DEDF-67975A63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796B6C2-F59A-507B-57B5-A85F49A81727}"/>
              </a:ext>
            </a:extLst>
          </p:cNvPr>
          <p:cNvSpPr txBox="1"/>
          <p:nvPr/>
        </p:nvSpPr>
        <p:spPr>
          <a:xfrm>
            <a:off x="3078901" y="5054042"/>
            <a:ext cx="2595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dirty="0"/>
              <a:t>Страница регистрации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7B4A1D1-9F38-F479-269D-1B9A9B6AB27B}"/>
              </a:ext>
            </a:extLst>
          </p:cNvPr>
          <p:cNvSpPr txBox="1"/>
          <p:nvPr/>
        </p:nvSpPr>
        <p:spPr>
          <a:xfrm>
            <a:off x="8314754" y="2510711"/>
            <a:ext cx="3306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неверных данных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23C0D7-F349-CF23-4EB0-7FC38F58B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31" y="1260042"/>
            <a:ext cx="7611515" cy="37940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CABEE1-1DEE-8D1E-0F04-7DFBCC9614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0601" y="1864380"/>
            <a:ext cx="2743199" cy="64633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08619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6DF31-1194-77E0-6221-1437D4B7B6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F37D2-FA17-A5F9-626B-F234567B6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16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4DC9016-0314-C720-5B74-2C500F06A2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2302BCA-3412-7165-328D-CD66FF92DD15}"/>
              </a:ext>
            </a:extLst>
          </p:cNvPr>
          <p:cNvSpPr txBox="1"/>
          <p:nvPr/>
        </p:nvSpPr>
        <p:spPr>
          <a:xfrm>
            <a:off x="3078900" y="5054042"/>
            <a:ext cx="20072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Страница</a:t>
            </a:r>
            <a:r>
              <a:rPr lang="en-US" dirty="0"/>
              <a:t> </a:t>
            </a:r>
            <a:r>
              <a:rPr lang="ru-RU" dirty="0"/>
              <a:t>рейсов</a:t>
            </a:r>
            <a:endParaRPr lang="en-US" dirty="0">
              <a:effectLst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C0C65EB-CAA1-5B92-FDEC-A7762F4AF6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931" y="1557536"/>
            <a:ext cx="7015271" cy="349650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F1572FC-37FE-50BC-83A3-1D1DF8D0F8E8}"/>
              </a:ext>
            </a:extLst>
          </p:cNvPr>
          <p:cNvSpPr txBox="1"/>
          <p:nvPr/>
        </p:nvSpPr>
        <p:spPr>
          <a:xfrm>
            <a:off x="8063496" y="2510711"/>
            <a:ext cx="33063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неверных данных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E610B42-1236-9385-1E07-E43DF7D565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7442" y="1863011"/>
            <a:ext cx="2638425" cy="64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614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647E30-DFCB-E341-8439-76DABA412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20B053-8441-F075-648E-E776751D4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17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00674C3-1A16-2E9A-FE5B-D3F10FDC6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9745"/>
          </a:xfrm>
        </p:spPr>
        <p:txBody>
          <a:bodyPr/>
          <a:lstStyle/>
          <a:p>
            <a:r>
              <a:rPr lang="ru-RU" dirty="0"/>
              <a:t>Руководство Пользователя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FEC4C3D-0279-36C9-EE8A-41A8F87B0D3E}"/>
              </a:ext>
            </a:extLst>
          </p:cNvPr>
          <p:cNvSpPr txBox="1"/>
          <p:nvPr/>
        </p:nvSpPr>
        <p:spPr>
          <a:xfrm>
            <a:off x="654236" y="4672642"/>
            <a:ext cx="330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Страница деталей рейса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5C16E5-C465-1C1D-1F96-BB03B8F15B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6416" t="11935" r="26701"/>
          <a:stretch>
            <a:fillRect/>
          </a:stretch>
        </p:blipFill>
        <p:spPr bwMode="auto">
          <a:xfrm>
            <a:off x="306827" y="849745"/>
            <a:ext cx="4001135" cy="3746500"/>
          </a:xfrm>
          <a:prstGeom prst="rect">
            <a:avLst/>
          </a:prstGeom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  <a:extLst>
              <a:ext uri="{C807C97D-BFC1-408E-A445-0C87EB9F89A2}">
                <ask:lineSketchStyleProps xmlns:ask="http://schemas.microsoft.com/office/drawing/2018/sketchyshapes" sd="0">
                  <a:custGeom>
                    <a:avLst/>
                    <a:gdLst/>
                    <a:ahLst/>
                    <a:cxnLst/>
                    <a:rect l="0" t="0" r="0" b="0"/>
                    <a:pathLst/>
                  </a:custGeom>
                  <ask:type/>
                </ask:lineSketchStyleProps>
              </a:ext>
            </a:extLst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25F99C0A-C167-FB15-E79B-F31853478C4B}"/>
              </a:ext>
            </a:extLst>
          </p:cNvPr>
          <p:cNvSpPr txBox="1"/>
          <p:nvPr/>
        </p:nvSpPr>
        <p:spPr>
          <a:xfrm>
            <a:off x="5683540" y="5780358"/>
            <a:ext cx="263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попытке покупки без аккаунта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319A0AA-F3A5-735E-5F38-A6B2A0E50A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3540" y="5118371"/>
            <a:ext cx="2638425" cy="6762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D685841-92AF-906B-3CA1-D9C1E8BBC7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7519" y="5118371"/>
            <a:ext cx="2638425" cy="6453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1E8D2C2-355B-8FE9-E092-C52F94B37A74}"/>
              </a:ext>
            </a:extLst>
          </p:cNvPr>
          <p:cNvSpPr txBox="1"/>
          <p:nvPr/>
        </p:nvSpPr>
        <p:spPr>
          <a:xfrm>
            <a:off x="2717518" y="5818459"/>
            <a:ext cx="263842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Ошибка при отсутствии свободных мест</a:t>
            </a:r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3402AF9-8B9F-B319-2B7E-2773B1B969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5535" y="854357"/>
            <a:ext cx="6123991" cy="374063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C69DB96C-76B0-D53B-281F-18B732789AAE}"/>
              </a:ext>
            </a:extLst>
          </p:cNvPr>
          <p:cNvSpPr txBox="1"/>
          <p:nvPr/>
        </p:nvSpPr>
        <p:spPr>
          <a:xfrm>
            <a:off x="5934372" y="4672642"/>
            <a:ext cx="330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Страница мои рейсы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90310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E64D69-A1EE-F56D-CFDD-DBD70D28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5B164-D24D-E987-D76D-D3AD0533E6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18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C0DDD384-F661-2DA9-B56D-3A78C2EE88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9745"/>
          </a:xfrm>
        </p:spPr>
        <p:txBody>
          <a:bodyPr/>
          <a:lstStyle/>
          <a:p>
            <a:r>
              <a:rPr lang="ru-RU" dirty="0"/>
              <a:t>Выходные формы</a:t>
            </a:r>
            <a:endParaRPr lang="en-US" dirty="0"/>
          </a:p>
        </p:txBody>
      </p:sp>
      <p:pic>
        <p:nvPicPr>
          <p:cNvPr id="3" name="Content Placeholder 5">
            <a:extLst>
              <a:ext uri="{FF2B5EF4-FFF2-40B4-BE49-F238E27FC236}">
                <a16:creationId xmlns:a16="http://schemas.microsoft.com/office/drawing/2014/main" id="{86288B1B-D238-E6BB-32A3-CDF8D6A65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81132" y="849745"/>
            <a:ext cx="5429736" cy="521324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890CD45-5568-C168-FF35-601976E777F8}"/>
              </a:ext>
            </a:extLst>
          </p:cNvPr>
          <p:cNvSpPr txBox="1"/>
          <p:nvPr/>
        </p:nvSpPr>
        <p:spPr>
          <a:xfrm>
            <a:off x="4442842" y="6062986"/>
            <a:ext cx="330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/>
              <a:t>Билет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71839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90CBD-316E-2B19-3806-8017E9606C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92C9FA-7DB6-0438-B272-4E23391F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19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DBAF871-5A65-1035-20C4-7D2C1BB5D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ru-RU" dirty="0"/>
              <a:t>Заключение – Схема взаимодействия ПО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58D239-9311-815F-E9A9-0A2E3CE105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7070" y="1325563"/>
            <a:ext cx="8057859" cy="5030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4289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385695-1767-792D-923B-AA9BD15A70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06027A-9889-A1A4-D15D-B502B64499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C1EDC-0655-44DB-BB68-843440415E0D}" type="slidenum">
              <a:rPr lang="en-US" smtClean="0"/>
              <a:t>20</a:t>
            </a:fld>
            <a:endParaRPr lang="en-US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5C904B4-77E2-7904-8347-C278211AE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849745"/>
          </a:xfrm>
        </p:spPr>
        <p:txBody>
          <a:bodyPr/>
          <a:lstStyle/>
          <a:p>
            <a:r>
              <a:rPr lang="ru-RU" dirty="0"/>
              <a:t>Заключение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FE817B-37CB-483A-7B32-4CA06BF16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9745"/>
            <a:ext cx="10515600" cy="532721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ходе выполнения проекта была успешно достигнута основная цель — разработано веб-приложение для поиска и бронирования авиабилетов с клиентской частью на Vue 3 (Composition API), Pinia в качестве менеджера состояния и серверной частью на ASP.NET Core Web API. В процессе работы проведён детальный анализ предметной области авиаперевозок. </a:t>
            </a:r>
          </a:p>
          <a:p>
            <a:pPr marL="0" indent="0">
              <a:buNone/>
            </a:pPr>
            <a:r>
              <a:rPr lang="ru-RU" dirty="0"/>
              <a:t>Внедрение разработанной информационной системы позволяет автоматизировать процесс приобретения авиабилетов, существенно сократить временные затраты пользователей, повысить прозрачность тарифов и условий перевозки.</a:t>
            </a:r>
            <a:endParaRPr lang="en-US" dirty="0"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29664043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320</Words>
  <Application>Microsoft Office PowerPoint</Application>
  <PresentationFormat>Widescreen</PresentationFormat>
  <Paragraphs>127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Wingdings</vt:lpstr>
      <vt:lpstr>Office Theme</vt:lpstr>
      <vt:lpstr>SkyWhySales</vt:lpstr>
      <vt:lpstr>Проектирование – Use Case</vt:lpstr>
      <vt:lpstr>Проектирование – Роли</vt:lpstr>
      <vt:lpstr>Проектирование – Use Case</vt:lpstr>
      <vt:lpstr>PowerPoint Presentation</vt:lpstr>
      <vt:lpstr>Структура Базы Данных</vt:lpstr>
      <vt:lpstr>Диаграмма классов</vt:lpstr>
      <vt:lpstr>Диаграмма развертывания</vt:lpstr>
      <vt:lpstr>Схема ПО</vt:lpstr>
      <vt:lpstr>Чек-лист</vt:lpstr>
      <vt:lpstr>API – Методы</vt:lpstr>
      <vt:lpstr>API – Методы</vt:lpstr>
      <vt:lpstr>Руководство Пользователя</vt:lpstr>
      <vt:lpstr>Руководство Пользователя</vt:lpstr>
      <vt:lpstr>Руководство Пользователя</vt:lpstr>
      <vt:lpstr>Руководство Пользователя</vt:lpstr>
      <vt:lpstr>Руководство Пользователя</vt:lpstr>
      <vt:lpstr>Выходные формы</vt:lpstr>
      <vt:lpstr>Заключение – Схема взаимодействия ПО</vt:lpstr>
      <vt:lpstr>Заключение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Артём Захаренко</dc:creator>
  <cp:lastModifiedBy>Артём Захаренко</cp:lastModifiedBy>
  <cp:revision>19</cp:revision>
  <dcterms:created xsi:type="dcterms:W3CDTF">2025-11-23T22:35:52Z</dcterms:created>
  <dcterms:modified xsi:type="dcterms:W3CDTF">2025-11-24T04:21:31Z</dcterms:modified>
</cp:coreProperties>
</file>